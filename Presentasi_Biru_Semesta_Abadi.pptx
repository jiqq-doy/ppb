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4984" cy="45720"/>
          </a:xfrm>
          <a:prstGeom prst="rect">
            <a:avLst/>
          </a:prstGeom>
          <a:solidFill>
            <a:srgbClr val="00F0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ANALISIS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2860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ln w="25400">
                  <a:solidFill>
                    <a:srgbClr val="F8FAFC"/>
                  </a:solidFill>
                </a:ln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PROSES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BISNIS.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BIRU SEMESTA ABADI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Identification  •  Process Portfolio  •  Process Discovery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PT BIRU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SEMESTA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ABADI.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Penyedia air minum isi ulang berkualitas tinggi (Air Minum BIRU) sejak 2002.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914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837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GERAI BEROPERASI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KOTA TERJANGKAU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FRANCHISE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MODEL BISNIS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KATEGORI PROSES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0" cy="3200400"/>
          </a:xfrm>
          <a:prstGeom prst="line">
            <a:avLst/>
          </a:prstGeom>
          <a:noFill/>
          <a:ln w="254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</a:rPr>
              <a:t>CORE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Proses inti yang langsung menghasilkan uang dan memberikan nilai jual produk ke pelanggan akhir secara nyata.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0" cy="32004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MANAGEMENT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566160" y="1920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Proses taktis &amp; strategis untuk merencanakan, mengawasi, serta mengevaluasi kelancaran operasional bisnis.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0" cy="3200400"/>
          </a:xfrm>
          <a:prstGeom prst="line">
            <a:avLst/>
          </a:prstGeom>
          <a:noFill/>
          <a:ln w="254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SUPPORT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Proses di balik layar yang mendukung SDM dan mutu standar agar proses Core dan Management berjalan lancar.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LANDSCAPE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0" cy="914400"/>
          </a:xfrm>
          <a:prstGeom prst="line">
            <a:avLst/>
          </a:prstGeom>
          <a:noFill/>
          <a:ln w="508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1. Pendaftaran &amp; Aktivasi Franchise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73736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7. Pengelolaan &amp; Monitoring Outlet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0" cy="914400"/>
          </a:xfrm>
          <a:prstGeom prst="line">
            <a:avLst/>
          </a:prstGeom>
          <a:noFill/>
          <a:ln w="5080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</a:rPr>
              <a:t>CORE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0F0FF">
              <a:alpha val="10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2. Pemesanan Air Minum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0F0FF">
              <a:alpha val="10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6. Pengisian &amp; Pengemasan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0F0FF">
              <a:alpha val="10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3. Komplain Pelanggan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0" cy="914400"/>
          </a:xfrm>
          <a:prstGeom prst="line">
            <a:avLst/>
          </a:prstGeom>
          <a:noFill/>
          <a:ln w="508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SUPPORT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4. Pengujian Kelayakan Air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41148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5. Rekrutmen Karyawan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 MATRIX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IMP: TINGGI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" y="2926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IMP: SEDANG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HEALTH: RENDAH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HEALTH: SEDANG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HEALTH: TINGGI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1371600"/>
            <a:ext cx="2286000" cy="1371600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55448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P7: Monitoring Outlet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371600"/>
            <a:ext cx="2286000" cy="1371600"/>
          </a:xfrm>
          <a:prstGeom prst="rect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554480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P1: Pendaftaran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2011680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P2: Pemesanan Air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371600"/>
            <a:ext cx="2286000" cy="1371600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55448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P4: Uji Air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01168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P6: Pengisian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2926080"/>
            <a:ext cx="2286000" cy="1371600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10896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P3: Komplain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56616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P5: Rekrutmen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PENILAIAN DETAIL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31520"/>
                <a:gridCol w="7315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</a:rPr>
                        <a:t>Proses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</a:rPr>
                        <a:t>Imp.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</a:rPr>
                        <a:t>Health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</a:rPr>
                        <a:t>Feas.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</a:rPr>
                        <a:t>Alasan Nyata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1. Pendaftaran Franchise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Vital untuk ekspansi, perizinan lama.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F0FF"/>
                          </a:solidFill>
                        </a:rPr>
                        <a:t>2. Pemesanan Air Minum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Pendapatan utama, rentan antrean.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3. Komplain Pelanggan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Penanganan rentan berbeda mutu.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4. Pengujian Kelayakan Air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Rendah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Kunci mutu, sudah sehat via lab.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5. Rekrutmen Karyawan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Turnover tinggi, butuh training.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6. Pengisian &amp; Pengemasan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Sedang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Sistem ozon otomatis minim eror.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F0FF"/>
                          </a:solidFill>
                        </a:rPr>
                        <a:t>7. Monitoring Outlet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Rendah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Tinggi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Manual cek ratusan gerai, rawan human error.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 DISCOVERY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0" cy="1828800"/>
          </a:xfrm>
          <a:prstGeom prst="line">
            <a:avLst/>
          </a:prstGeom>
          <a:noFill/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METODE TERPILIH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Observasi Aktif &amp;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Terjun Langsung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0" cy="1828800"/>
          </a:xfrm>
          <a:prstGeom prst="line">
            <a:avLst/>
          </a:prstGeom>
          <a:noFill/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FOKUS PENGAMATAN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Proses 2: Pemesanan Air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Proses 6: Pengisian &amp; Kemasan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0" cy="1828800"/>
          </a:xfrm>
          <a:prstGeom prst="line">
            <a:avLst/>
          </a:prstGeom>
          <a:noFill/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</a:rPr>
              <a:t>OBJEK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7373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Urutan aktivitas aktual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Waktu pengerjaan (processing time)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Titik bottleneck antrean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097280" cy="548640"/>
          </a:xfrm>
          <a:prstGeom prst="roundRect">
            <a:avLst>
              <a:gd name="adj" fmla="val 83333"/>
            </a:avLst>
          </a:prstGeom>
          <a:solidFill>
            <a:srgbClr val="0B11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Persiapan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03120" y="3657600"/>
            <a:ext cx="1097280" cy="548640"/>
          </a:xfrm>
          <a:prstGeom prst="roundRect">
            <a:avLst>
              <a:gd name="adj" fmla="val 83333"/>
            </a:avLst>
          </a:prstGeom>
          <a:solidFill>
            <a:srgbClr val="0B11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Observasi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49040" y="3657600"/>
            <a:ext cx="1097280" cy="548640"/>
          </a:xfrm>
          <a:prstGeom prst="roundRect">
            <a:avLst>
              <a:gd name="adj" fmla="val 83333"/>
            </a:avLst>
          </a:prstGeom>
          <a:solidFill>
            <a:srgbClr val="0B11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Pencatatan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4960" y="3657600"/>
            <a:ext cx="1097280" cy="548640"/>
          </a:xfrm>
          <a:prstGeom prst="roundRect">
            <a:avLst>
              <a:gd name="adj" fmla="val 83333"/>
            </a:avLst>
          </a:prstGeom>
          <a:solidFill>
            <a:srgbClr val="0B112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Identifikasi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40880" y="3657600"/>
            <a:ext cx="1371600" cy="548640"/>
          </a:xfrm>
          <a:prstGeom prst="roundRect">
            <a:avLst>
              <a:gd name="adj" fmla="val 83333"/>
            </a:avLst>
          </a:prstGeom>
          <a:solidFill>
            <a:srgbClr val="00F0FF">
              <a:alpha val="10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</a:rPr>
              <a:t>Bahan Analisis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ALASAN METODE TERJUN LAPANGAN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HINDARI BIAS INFORMASI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Mendapat data jujur dan faktual. Mewaspadai jawaban wawancara yang dimanipulasi.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AKURASI DURASI WAKTU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Mengukur langsung via stopwatch untuk setiap tahapan, demi data processing time riil.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VISUALISASI MASALAH RIIL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Melihat hambatan ruang fisik di depo yang tak tergambar lewat dokumen.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FOKUS WAWANCARA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0" cy="2286000"/>
          </a:xfrm>
          <a:prstGeom prst="line">
            <a:avLst/>
          </a:prstGeom>
          <a:noFill/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</a:rPr>
              <a:t>A. MATRIX PORTFOLIO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Importance: Paling krusial?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Health: Sering terkendala?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Feasibility: Mudah diubah?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0" cy="2286000"/>
          </a:xfrm>
          <a:prstGeom prst="line">
            <a:avLst/>
          </a:prstGeom>
          <a:noFill/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</a:rPr>
              <a:t>B. AKTIVITAS UTAMA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Alur bawa galon hingga terisi?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Prosedur klaim garansi puas?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Aktivasi gerai mitra baru?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Prosedur sistem ozon &amp; lab?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0" cy="2286000"/>
          </a:xfrm>
          <a:prstGeom prst="line">
            <a:avLst/>
          </a:prstGeom>
          <a:noFill/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</a:rPr>
              <a:t>C. AKTOR &amp; DURASI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Siapa PIC tiap tahapan?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Rata-rata pelayanan 1 galon?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Durasi monitoring per sesi?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NEXT STEP ➔ PENYUSUNAN BPMN &amp; ANALISIS LANJUTAN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2026-10-10T14:31:28Z</dcterms:created>
  <dcterms:modified xsi:type="dcterms:W3CDTF">2026-10-10T14:31:28Z</dcterms:modified>
</cp:coreProperties>
</file>