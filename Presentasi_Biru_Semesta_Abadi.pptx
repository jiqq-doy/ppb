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123B5D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49560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PT BIRU SEMESTA ABADI - PROGRESS TUBES WEEK 5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solidFill>
            <a:srgbClr val="64D8CB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6858000" y="-457200"/>
            <a:ext cx="3657600" cy="3657600"/>
          </a:xfrm>
          <a:prstGeom prst="triangle">
            <a:avLst/>
          </a:prstGeom>
          <a:solidFill>
            <a:srgbClr val="168AA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PROSES BISNIS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D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BIRU SEMESTA ABADI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8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Identification, Process Portfolio &amp; Process Discovery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8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TUBES — Week 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[Nama Kelompok / Anggota]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B5D"/>
                </a:solidFill>
              </a:rPr>
              <a:t>PROFIL PERUSAHAAN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8AAD"/>
                </a:solidFill>
              </a:rPr>
              <a:t>PT Biru Semesta Abadi (Air Minum BIRU)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3746"/>
                </a:solidFill>
              </a:rPr>
              <a:t>Perusahaan yang bergerak di bidang penyediaan air minum isi ulang. Menerapkan model bisnis waralaba (franchise) untuk memperluas jangkauan usahanya ke berbagai wilayah di Indonesia.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1097280"/>
            <a:ext cx="2743200" cy="914400"/>
          </a:xfrm>
          <a:prstGeom prst="rect">
            <a:avLst>
              <a:gd name="adj" fmla="val 20000"/>
            </a:avLst>
          </a:prstGeom>
          <a:solidFill>
            <a:srgbClr val="168AA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22 Mei 2002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Berdiri di Surabaya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2194560"/>
            <a:ext cx="2743200" cy="914400"/>
          </a:xfrm>
          <a:prstGeom prst="rect">
            <a:avLst>
              <a:gd name="adj" fmla="val 20000"/>
            </a:avLst>
          </a:prstGeom>
          <a:solidFill>
            <a:srgbClr val="123B5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4D8CB"/>
                </a:solidFill>
              </a:rPr>
              <a:t>&gt; 837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0" y="2651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Gerai yang Beroperasi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3291840"/>
            <a:ext cx="2743200" cy="914400"/>
          </a:xfrm>
          <a:prstGeom prst="rect">
            <a:avLst>
              <a:gd name="adj" fmla="val 20000"/>
            </a:avLst>
          </a:prstGeom>
          <a:solidFill>
            <a:srgbClr val="168AA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46 Kota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0" y="3749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Tersebar di Indonesia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PROCESS IDENTIFICATION (LANDSCAPE MODEL)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EAEFE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MANAGEMENT PROCESSES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0" y="1280160"/>
            <a:ext cx="2560320" cy="731520"/>
          </a:xfrm>
          <a:prstGeom prst="rect">
            <a:avLst>
              <a:gd name="adj" fmla="val 12500"/>
            </a:avLst>
          </a:prstGeom>
          <a:solidFill>
            <a:srgbClr val="168AAD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280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Pendaftaran &amp; Aktivasi Franchise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(Eksternal)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0" y="1280160"/>
            <a:ext cx="2560320" cy="731520"/>
          </a:xfrm>
          <a:prstGeom prst="rect">
            <a:avLst>
              <a:gd name="adj" fmla="val 12500"/>
            </a:avLst>
          </a:prstGeom>
          <a:solidFill>
            <a:srgbClr val="123B5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1280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Pengelolaan &amp; Monitoring Outlet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(Internal)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1097280"/>
          </a:xfrm>
          <a:prstGeom prst="rect">
            <a:avLst/>
          </a:prstGeom>
          <a:solidFill>
            <a:srgbClr val="EAEFE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CORE PROCESSES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77440" y="2560320"/>
            <a:ext cx="2011680" cy="731520"/>
          </a:xfrm>
          <a:prstGeom prst="rect">
            <a:avLst>
              <a:gd name="adj" fmla="val 12500"/>
            </a:avLst>
          </a:prstGeom>
          <a:solidFill>
            <a:srgbClr val="123B5D"/>
          </a:solidFill>
          <a:ln/>
        </p:spPr>
      </p:sp>
      <p:sp>
        <p:nvSpPr>
          <p:cNvPr id="12" name="Text 10"/>
          <p:cNvSpPr/>
          <p:nvPr/>
        </p:nvSpPr>
        <p:spPr>
          <a:xfrm>
            <a:off x="2377440" y="25603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Pemesanan Air Minum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(Eksternal)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2011680" cy="731520"/>
          </a:xfrm>
          <a:prstGeom prst="rect">
            <a:avLst>
              <a:gd name="adj" fmla="val 12500"/>
            </a:avLst>
          </a:prstGeom>
          <a:solidFill>
            <a:srgbClr val="168AAD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5603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Pengisian &amp; Pengemasan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(Internal)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2560320"/>
            <a:ext cx="1645920" cy="731520"/>
          </a:xfrm>
          <a:prstGeom prst="rect">
            <a:avLst>
              <a:gd name="adj" fmla="val 12500"/>
            </a:avLst>
          </a:prstGeom>
          <a:solidFill>
            <a:srgbClr val="123B5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25603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Komplain Pelanggan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(Eksternal)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EAEFE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7490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SUPPORT PROCESSES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0" y="3840480"/>
            <a:ext cx="2560320" cy="731520"/>
          </a:xfrm>
          <a:prstGeom prst="rect">
            <a:avLst>
              <a:gd name="adj" fmla="val 12500"/>
            </a:avLst>
          </a:prstGeom>
          <a:solidFill>
            <a:srgbClr val="168AAD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38404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Pengujian Kelayakan Air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(Eksternal)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0" y="3840480"/>
            <a:ext cx="2560320" cy="731520"/>
          </a:xfrm>
          <a:prstGeom prst="rect">
            <a:avLst>
              <a:gd name="adj" fmla="val 12500"/>
            </a:avLst>
          </a:prstGeom>
          <a:solidFill>
            <a:srgbClr val="123B5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0" y="38404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Rekrutmen Karyawan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(Internal)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PENJELASAN KATEGORI PROSES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0040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548640"/>
          </a:xfrm>
          <a:prstGeom prst="rect">
            <a:avLst>
              <a:gd name="adj" fmla="val 16667"/>
            </a:avLst>
          </a:prstGeom>
          <a:solidFill>
            <a:srgbClr val="123B5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CORE PROCESSES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63746"/>
                </a:solidFill>
              </a:rPr>
              <a:t>Proses yang langsung memberikan nilai ke pelanggan dan menghasilkan uang.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Pemesanan Air Minum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Pengisian &amp; Pengemasan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Komplain Pelanggan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320040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548640"/>
          </a:xfrm>
          <a:prstGeom prst="rect">
            <a:avLst>
              <a:gd name="adj" fmla="val 16667"/>
            </a:avLst>
          </a:prstGeom>
          <a:solidFill>
            <a:srgbClr val="168AAD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MANAGEMENT PROCESSES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7373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63746"/>
                </a:solidFill>
              </a:rPr>
              <a:t>Proses untuk merencanakan, mengawasi, dan mengevaluasi operasional bisnis.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246888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Pendaftaran &amp; Aktivasi Franchise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Pengelolaan &amp; Monitoring Outlet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560320" cy="320040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1097280"/>
            <a:ext cx="2560320" cy="548640"/>
          </a:xfrm>
          <a:prstGeom prst="rect">
            <a:avLst>
              <a:gd name="adj" fmla="val 16667"/>
            </a:avLst>
          </a:prstGeom>
          <a:solidFill>
            <a:srgbClr val="64D8CB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SUPPORT PROCESSES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17373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63746"/>
                </a:solidFill>
              </a:rPr>
              <a:t>Proses pendukung yang menjaga agar proses utama dan manajemen berjalan lancar.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246888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Pengujian Kelayakan Air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Rekrutmen Karyawan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PROCESS PORTFOLIO MATRIX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0" cy="3200400"/>
          </a:xfrm>
          <a:prstGeom prst="line">
            <a:avLst/>
          </a:prstGeom>
          <a:noFill/>
          <a:ln w="25400">
            <a:solidFill>
              <a:srgbClr val="263746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371600" y="4297680"/>
            <a:ext cx="6400800" cy="0"/>
          </a:xfrm>
          <a:prstGeom prst="line">
            <a:avLst/>
          </a:prstGeom>
          <a:noFill/>
          <a:ln w="25400">
            <a:solidFill>
              <a:srgbClr val="263746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 rot="16200000">
            <a:off x="-182880" y="2468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B5D"/>
                </a:solidFill>
              </a:rPr>
              <a:t>IMPORTANCE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4389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B5D"/>
                </a:solidFill>
              </a:rPr>
              <a:t>HEALTH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Rendah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Sedang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Tinggi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45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Tinggi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Sedang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0" y="3017520"/>
            <a:ext cx="64008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371600" y="1645920"/>
            <a:ext cx="64008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743200" y="1097280"/>
            <a:ext cx="0" cy="320040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0" y="1097280"/>
            <a:ext cx="0" cy="320040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343400" y="1417320"/>
            <a:ext cx="457200" cy="457200"/>
          </a:xfrm>
          <a:prstGeom prst="ellipse">
            <a:avLst/>
          </a:prstGeom>
          <a:solidFill>
            <a:srgbClr val="168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4340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746"/>
                </a:solidFill>
              </a:rPr>
              <a:t>Pendaftaran Franchise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00600" y="1417320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Pemesanan Air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2788920"/>
            <a:ext cx="457200" cy="457200"/>
          </a:xfrm>
          <a:prstGeom prst="ellipse">
            <a:avLst/>
          </a:prstGeom>
          <a:solidFill>
            <a:srgbClr val="168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86200" y="3246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746"/>
                </a:solidFill>
              </a:rPr>
              <a:t>Komplain Pelanggan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0" y="1417320"/>
            <a:ext cx="457200" cy="457200"/>
          </a:xfrm>
          <a:prstGeom prst="ellipse">
            <a:avLst/>
          </a:prstGeom>
          <a:solidFill>
            <a:srgbClr val="168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71500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746"/>
                </a:solidFill>
              </a:rPr>
              <a:t>Uji Kelayakan Air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0" y="3246120"/>
            <a:ext cx="457200" cy="457200"/>
          </a:xfrm>
          <a:prstGeom prst="ellipse">
            <a:avLst/>
          </a:prstGeom>
          <a:solidFill>
            <a:srgbClr val="168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29000" y="3703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746"/>
                </a:solidFill>
              </a:rPr>
              <a:t>Rekrutmen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43600" y="1874520"/>
            <a:ext cx="457200" cy="457200"/>
          </a:xfrm>
          <a:prstGeom prst="ellipse">
            <a:avLst/>
          </a:prstGeom>
          <a:solidFill>
            <a:srgbClr val="168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578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746"/>
                </a:solidFill>
              </a:rPr>
              <a:t>Pengisian Produk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0" y="1417320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P7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05740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Monitoring Outlet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PENILAIAN PROCESS PORTFOLIO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011680"/>
                <a:gridCol w="731520"/>
                <a:gridCol w="731520"/>
                <a:gridCol w="73152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Nama Proses Bisnis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Imp.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Health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Feas.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Alasan Rasionalisasi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Pendaftaran &amp; Aktivasi Franchise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Vital untuk ekspansi. Namun survei kelayakan dan perizinan fisik memakan waktu lama.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Pemesanan Air Minum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Sumber utama pendapatan ritel, rawan antrean panjang manual pada jam sibuk.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Komplain Pelanggan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Menjaga garansi kepuasan, penanganan di tiap gerai rentan berbeda tergantung staf.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Pengujian Kelayakan Air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Rendah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Kunci mutu produk &amp; standar ISO. Sudah berjalan sangat sehat melalui lab bulanan.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Rekrutmen Karyawan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Tingkat pergantian staf tinggi, butuh program pelatihan dasar berulang.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Pengisian &amp; Pengemasan Produk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Sedang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Sangat sehat berkat standarisasi sistem ozon otomatis yang minim eror.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Pengelolaan &amp; Monitoring Outlet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Rendah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Tinggi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Mengawasi ratusan gerai secara manual sangat rawan human error pada laporan kas &amp; stok.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PROCESS DISCOVERY PLAN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8AAD"/>
                </a:solidFill>
              </a:rPr>
              <a:t>Metode: Observasi Aktif (Terjun Langsung ke Lapangan)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Fokus Pengamatan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Proses 2: Pemesanan Air Minum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Proses 6: Pengisian &amp; Pengemasan Produk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B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Objek Data yang Dicari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Urutan aktivitas aktual petugas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Waktu pengerjaan (processing time)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3746"/>
                </a:solidFill>
              </a:rPr>
              <a:t>• Titik kendala (bottleneck) antrean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Alur Rencana Observasi: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1371600" cy="731520"/>
          </a:xfrm>
          <a:prstGeom prst="roundRect">
            <a:avLst>
              <a:gd name="adj" fmla="val 25000"/>
            </a:avLst>
          </a:prstGeom>
          <a:solidFill>
            <a:srgbClr val="123B5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576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Persiapan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8AAD"/>
                </a:solidFill>
              </a:rPr>
              <a:t>➔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103120" y="3657600"/>
            <a:ext cx="1371600" cy="731520"/>
          </a:xfrm>
          <a:prstGeom prst="roundRect">
            <a:avLst>
              <a:gd name="adj" fmla="val 25000"/>
            </a:avLst>
          </a:prstGeom>
          <a:solidFill>
            <a:srgbClr val="123B5D"/>
          </a:solidFill>
          <a:ln/>
        </p:spPr>
      </p:sp>
      <p:sp>
        <p:nvSpPr>
          <p:cNvPr id="15" name="Text 13"/>
          <p:cNvSpPr/>
          <p:nvPr/>
        </p:nvSpPr>
        <p:spPr>
          <a:xfrm>
            <a:off x="2103120" y="36576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Observasi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Lapangan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8AAD"/>
                </a:solidFill>
              </a:rPr>
              <a:t>➔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3657600"/>
            <a:ext cx="1371600" cy="731520"/>
          </a:xfrm>
          <a:prstGeom prst="roundRect">
            <a:avLst>
              <a:gd name="adj" fmla="val 25000"/>
            </a:avLst>
          </a:prstGeom>
          <a:solidFill>
            <a:srgbClr val="123B5D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36576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Pencatatan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Aktivitas &amp; Durasi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66360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8AAD"/>
                </a:solidFill>
              </a:rPr>
              <a:t>➔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94960" y="3657600"/>
            <a:ext cx="1371600" cy="731520"/>
          </a:xfrm>
          <a:prstGeom prst="roundRect">
            <a:avLst>
              <a:gd name="adj" fmla="val 25000"/>
            </a:avLst>
          </a:prstGeom>
          <a:solidFill>
            <a:srgbClr val="123B5D"/>
          </a:solidFill>
          <a:ln/>
        </p:spPr>
      </p:sp>
      <p:sp>
        <p:nvSpPr>
          <p:cNvPr id="21" name="Text 19"/>
          <p:cNvSpPr/>
          <p:nvPr/>
        </p:nvSpPr>
        <p:spPr>
          <a:xfrm>
            <a:off x="5394960" y="36576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Identifikasi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Hambatan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12280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8AAD"/>
                </a:solidFill>
              </a:rPr>
              <a:t>➔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040880" y="3657600"/>
            <a:ext cx="1371600" cy="731520"/>
          </a:xfrm>
          <a:prstGeom prst="roundRect">
            <a:avLst>
              <a:gd name="adj" fmla="val 25000"/>
            </a:avLst>
          </a:prstGeom>
          <a:solidFill>
            <a:srgbClr val="123B5D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0" y="36576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Bahan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Analisis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ALASAN METODE TERJUN LAPANGAN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2560320" cy="548640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MENGHINDARI BIAS INFORMASI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746"/>
                </a:solidFill>
              </a:rPr>
              <a:t>Mendapatkan data yang jujur dan apa adanya di lapangan. Berbeda dengan wawancara yang terkadang sudah dimanipulasi atau ditutupi oleh staf.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371600"/>
            <a:ext cx="25603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1371600"/>
            <a:ext cx="2560320" cy="548640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371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AKURASI DURASI WAKTU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746"/>
                </a:solidFill>
              </a:rPr>
              <a:t>Memungkinkan pengukuran langsung menggunakan stopwatch untuk setiap tahapan guna mendapatkan data processing time riil untuk simulasi.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371600"/>
            <a:ext cx="25603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371600"/>
            <a:ext cx="2560320" cy="548640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71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VISUALISASI MASALAH RIIL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746"/>
                </a:solidFill>
              </a:rPr>
              <a:t>Dapat mengamati secara langsung hambatan fisik di depo, seperti area tunggu yang terlalu sempit atau tata letak mesin yang kurang baik.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5D"/>
                </a:solidFill>
              </a:rPr>
              <a:t>FOKUS PERTANYAAN WAWANCARA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1645920"/>
          </a:xfrm>
          <a:prstGeom prst="rect">
            <a:avLst/>
          </a:prstGeom>
          <a:solidFill>
            <a:srgbClr val="123B5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D8CB"/>
                </a:solidFill>
              </a:rPr>
              <a:t>A. Penilaian Matrix Portfolio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• Importance: Proses mana yang paling krusial?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• Health: Proses mana yang paling sering berkendala?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• Feasibility: Proses mana yang paling mudah diubah alurnya?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3840480" cy="1645920"/>
          </a:xfrm>
          <a:prstGeom prst="rect">
            <a:avLst/>
          </a:prstGeom>
          <a:solidFill>
            <a:srgbClr val="123B5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017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D8CB"/>
                </a:solidFill>
              </a:rPr>
              <a:t>C. Aktor &amp; Durasi Waktu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• Siapa petugas penanggung jawab tiap tahapan?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• Berapa rata-rata waktu pelayanan satu galon?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• Berapa durasi monitoring outlet per minggu?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8A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5D"/>
                </a:solidFill>
              </a:rPr>
              <a:t>B. Rangkaian Aktivitas Utama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55448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alur saat pelanggan datang bawa galon?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prosedur klaim garansi 100% puas?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alur aktivasi gerai mitra baru?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tahap uji lab kualitas air bulanan?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tahapan seleksi pegawai baru?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prosedur pengolahan sistem ozon?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63746"/>
                </a:solidFill>
              </a:rPr>
              <a:t>• Bagaimana inspeksi harian supervisor?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2026-10-10T10:18:39Z</dcterms:created>
  <dcterms:modified xsi:type="dcterms:W3CDTF">2026-10-10T10:18:39Z</dcterms:modified>
</cp:coreProperties>
</file>